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Predicting 30-Day Heart Failure Readmission Risk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AAI-500 Final Project · Group 4 — Ian Schmitt, Keana Gindlesperger, Guna Pasupathy</a:t>
            </a:r>
          </a:p>
          <a:p>
            <a:r>
              <a:t>Shiley-Marcos School of Engineering, University of San Diego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&amp;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~20% of heart-failure patients are readmitted within 30 days — costly and often preventable.</a:t>
            </a:r>
          </a:p>
          <a:p>
            <a:pPr>
              <a:defRPr sz="2200"/>
            </a:pPr>
            <a:r>
              <a:t>Goal: identify factors associated with 30-day readmission and build a defensible risk model.</a:t>
            </a:r>
          </a:p>
          <a:p>
            <a:pPr>
              <a:defRPr sz="2200"/>
            </a:pPr>
            <a:r>
              <a:t>Objectives:</a:t>
            </a:r>
          </a:p>
          <a:p>
            <a:pPr lvl="1">
              <a:defRPr sz="1800"/>
            </a:pPr>
            <a:r>
              <a:t>Clean and validate the data</a:t>
            </a:r>
          </a:p>
          <a:p>
            <a:pPr lvl="1">
              <a:defRPr sz="1800"/>
            </a:pPr>
            <a:r>
              <a:t>Explore distributions and test associations (Ch 1–5)</a:t>
            </a:r>
          </a:p>
          <a:p>
            <a:pPr lvl="1">
              <a:defRPr sz="1800"/>
            </a:pPr>
            <a:r>
              <a:t>Fit and interpret a logistic-regression model</a:t>
            </a:r>
          </a:p>
          <a:p>
            <a:pPr lvl="1">
              <a:defRPr sz="1800"/>
            </a:pPr>
            <a:r>
              <a:t>Translate results into recommendations and state limitations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Dataset</a:t>
            </a:r>
          </a:p>
        </p:txBody>
      </p:sp>
      <p:pic>
        <p:nvPicPr>
          <p:cNvPr id="3" name="Picture 2" descr="fig_target_bal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280160"/>
            <a:ext cx="7774162" cy="51206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498079" y="1463040"/>
            <a:ext cx="43891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Kaggle: Heart Failure Readmission &amp; SDOH</a:t>
            </a:r>
          </a:p>
          <a:p>
            <a:pPr>
              <a:defRPr sz="1800"/>
            </a:pPr>
            <a:r>
              <a:t>3,000 patients × 16 variables</a:t>
            </a:r>
          </a:p>
          <a:p>
            <a:pPr>
              <a:defRPr sz="1800"/>
            </a:pPr>
            <a:r>
              <a:t>Clinical: age, BMI, BNP, sodium, creatinine, BP, heart rate</a:t>
            </a:r>
          </a:p>
          <a:p>
            <a:pPr>
              <a:defRPr sz="1800"/>
            </a:pPr>
            <a:r>
              <a:t>Treatment: ACE inhibitor, beta blocker, diuretic, adherence</a:t>
            </a:r>
          </a:p>
          <a:p>
            <a:pPr>
              <a:defRPr sz="1800"/>
            </a:pPr>
            <a:r>
              <a:t>Social: income level, distance to hospital</a:t>
            </a:r>
          </a:p>
          <a:p>
            <a:pPr>
              <a:defRPr sz="1800"/>
            </a:pPr>
            <a:r>
              <a:t>Target: readmitted_30d (41.1% positive)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Quality &amp; Cleaning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~3% missing values in BMI, sodium, and creatinine.</a:t>
            </a:r>
          </a:p>
          <a:p>
            <a:pPr>
              <a:defRPr sz="2200"/>
            </a:pPr>
            <a:r>
              <a:t>Impossible negative creatinine values (18 rows) and a few extreme outliers.</a:t>
            </a:r>
          </a:p>
          <a:p>
            <a:pPr>
              <a:defRPr sz="2200"/>
            </a:pPr>
            <a:r>
              <a:t>Cleaning: out-of-range readings set to NaN using clinically plausible ranges.</a:t>
            </a:r>
          </a:p>
          <a:p>
            <a:pPr>
              <a:defRPr sz="2200"/>
            </a:pPr>
            <a:r>
              <a:t>Modeling uses complete-case analysis (no imputation — outside course scope).</a:t>
            </a:r>
          </a:p>
          <a:p>
            <a:pPr>
              <a:defRPr sz="2200"/>
            </a:pPr>
            <a:r>
              <a:t>No duplicate rows; patient_id excluded as an identifier.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EDA — Distributions</a:t>
            </a:r>
          </a:p>
        </p:txBody>
      </p:sp>
      <p:pic>
        <p:nvPicPr>
          <p:cNvPr id="3" name="Picture 2" descr="fig_hist_numer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280160"/>
            <a:ext cx="6438825" cy="51206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498079" y="1463040"/>
            <a:ext cx="43891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Sodium ≈ normal</a:t>
            </a:r>
          </a:p>
          <a:p>
            <a:pPr>
              <a:defRPr sz="1800"/>
            </a:pPr>
            <a:r>
              <a:t>BNP right-skewed (fits a gamma)</a:t>
            </a:r>
          </a:p>
          <a:p>
            <a:pPr>
              <a:defRPr sz="1800"/>
            </a:pPr>
            <a:r>
              <a:t>Age roughly uniform (40–90), not normal</a:t>
            </a:r>
          </a:p>
          <a:p>
            <a:pPr>
              <a:defRPr sz="1800"/>
            </a:pPr>
            <a:r>
              <a:t>Verified shape rather than assuming it (Ch 2)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EDA — Correlations</a:t>
            </a:r>
          </a:p>
        </p:txBody>
      </p:sp>
      <p:pic>
        <p:nvPicPr>
          <p:cNvPr id="3" name="Picture 2" descr="fig_corr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280160"/>
            <a:ext cx="5753717" cy="51206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498079" y="1463040"/>
            <a:ext cx="43891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All pairwise |r| &lt; 0.05</a:t>
            </a:r>
          </a:p>
          <a:p>
            <a:pPr>
              <a:defRPr sz="1800"/>
            </a:pPr>
            <a:r>
              <a:t>Numeric predictors are largely independent</a:t>
            </a:r>
          </a:p>
          <a:p>
            <a:pPr>
              <a:defRPr sz="1800"/>
            </a:pPr>
            <a:r>
              <a:t>No multicollinearity concerns for the model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Separates the Two Groups?</a:t>
            </a:r>
          </a:p>
        </p:txBody>
      </p:sp>
      <p:pic>
        <p:nvPicPr>
          <p:cNvPr id="3" name="Picture 2" descr="fig_box_by_targ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280160"/>
            <a:ext cx="7027555" cy="51206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498079" y="1463040"/>
            <a:ext cx="43891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Lower adherence → more readmission</a:t>
            </a:r>
          </a:p>
          <a:p>
            <a:pPr>
              <a:defRPr sz="1800"/>
            </a:pPr>
            <a:r>
              <a:t>Higher BNP and age → more readmission</a:t>
            </a:r>
          </a:p>
          <a:p>
            <a:pPr>
              <a:defRPr sz="1800"/>
            </a:pPr>
            <a:r>
              <a:t>Most other features overlap heavily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Statistical Testing (Ch 5)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Chi-square tests (categorical) and Welch's t-tests (numeric) vs. readmission.</a:t>
            </a:r>
          </a:p>
          <a:p>
            <a:pPr>
              <a:defRPr sz="2200"/>
            </a:pPr>
            <a:r>
              <a:t>Bonferroni correction for multiple testing (Ch 6.5).</a:t>
            </a:r>
          </a:p>
          <a:p>
            <a:pPr>
              <a:defRPr sz="2200"/>
            </a:pPr>
            <a:r>
              <a:t>Significant predictors:</a:t>
            </a:r>
          </a:p>
          <a:p>
            <a:pPr lvl="1">
              <a:defRPr sz="1800"/>
            </a:pPr>
            <a:r>
              <a:t>adherence_score, BNP, age, ACE inhibitor, beta blocker, distance to hospital</a:t>
            </a:r>
          </a:p>
          <a:p>
            <a:pPr>
              <a:defRPr sz="2200"/>
            </a:pPr>
            <a:r>
              <a:t>No association: gender, income level, BMI, heart rate, diuretic.</a:t>
            </a:r>
          </a:p>
          <a:p>
            <a:pPr>
              <a:defRPr sz="2200"/>
            </a:pPr>
            <a:r>
              <a:t>Confirmed by a permutation test (p ≈ 0) and high power (~1.0).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Estimation &amp; Inference (Ch 3–4)</a:t>
            </a:r>
          </a:p>
        </p:txBody>
      </p:sp>
      <p:pic>
        <p:nvPicPr>
          <p:cNvPr id="3" name="Picture 2" descr="fig_clt_bn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280160"/>
            <a:ext cx="7803328" cy="51206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498079" y="1463040"/>
            <a:ext cx="43891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CLT: sample-mean of skewed BNP is normal; SE matches σ/√n</a:t>
            </a:r>
          </a:p>
          <a:p>
            <a:pPr>
              <a:defRPr sz="1800"/>
            </a:pPr>
            <a:r>
              <a:t>Readmission rate 41.1%, 95% CI (39.4%, 42.9%)</a:t>
            </a:r>
          </a:p>
          <a:p>
            <a:pPr>
              <a:defRPr sz="1800"/>
            </a:pPr>
            <a:r>
              <a:t>Bootstrap, t-based, and Bayesian intervals all agree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Modeling — Logistic Regression (Ch 7)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Logistic-regression GLM (statsmodels) — binary response, interpretable odds ratios.</a:t>
            </a:r>
          </a:p>
          <a:p>
            <a:pPr>
              <a:defRPr sz="2200"/>
            </a:pPr>
            <a:r>
              <a:t>Numeric predictors standardized; categoricals as indicator variables.</a:t>
            </a:r>
          </a:p>
          <a:p>
            <a:pPr>
              <a:defRPr sz="2200"/>
            </a:pPr>
            <a:r>
              <a:t>Complete-case analysis on the cleaned data.</a:t>
            </a:r>
          </a:p>
          <a:p>
            <a:pPr>
              <a:defRPr sz="2200"/>
            </a:pPr>
            <a:r>
              <a:t>Model comparison via likelihood-ratio tests, deviance, and AIC.</a:t>
            </a:r>
          </a:p>
          <a:p>
            <a:pPr>
              <a:defRPr sz="2200"/>
            </a:pPr>
            <a:r>
              <a:t>Tree/ensemble ML kept only as an out-of-scope appendix.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Results</a:t>
            </a:r>
          </a:p>
        </p:txBody>
      </p:sp>
      <p:pic>
        <p:nvPicPr>
          <p:cNvPr id="3" name="Picture 2" descr="fig_odds_rati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280160"/>
            <a:ext cx="6878363" cy="51206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498079" y="1463040"/>
            <a:ext cx="43891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Protective (OR&lt;1): adherence, ACE inhibitor, beta blocker</a:t>
            </a:r>
          </a:p>
          <a:p>
            <a:pPr>
              <a:defRPr sz="1800"/>
            </a:pPr>
            <a:r>
              <a:t>Risk (OR&gt;1): BNP, age, distance, creatinine</a:t>
            </a:r>
          </a:p>
          <a:p>
            <a:pPr>
              <a:defRPr sz="1800"/>
            </a:pPr>
            <a:r>
              <a:t>LR vs null: χ²=283, p≈2e-51</a:t>
            </a:r>
          </a:p>
          <a:p>
            <a:pPr>
              <a:defRPr sz="1800"/>
            </a:pPr>
            <a:r>
              <a:t>Pseudo-R² ≈ 0.08 (modest)</a:t>
            </a:r>
          </a:p>
          <a:p>
            <a:pPr>
              <a:defRPr sz="1800"/>
            </a:pPr>
            <a:r>
              <a:t>Accuracy 0.654 vs 0.583 baseline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Findings &amp;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Medication adherence is the strongest signal — lower adherence, higher risk.</a:t>
            </a:r>
          </a:p>
          <a:p>
            <a:pPr>
              <a:defRPr sz="2200"/>
            </a:pPr>
            <a:r>
              <a:t>Elevated BNP and older age are the main clinical risk markers.</a:t>
            </a:r>
          </a:p>
          <a:p>
            <a:pPr>
              <a:defRPr sz="2200"/>
            </a:pPr>
            <a:r>
              <a:t>Treatment with ACE inhibitors / beta blockers is associated with lower risk.</a:t>
            </a:r>
          </a:p>
          <a:p>
            <a:pPr>
              <a:defRPr sz="2200"/>
            </a:pPr>
            <a:r>
              <a:t>Recommendation: target adherence support and BNP monitoring for high-risk patients.</a:t>
            </a:r>
          </a:p>
          <a:p>
            <a:pPr>
              <a:defRPr sz="2200"/>
            </a:pPr>
            <a:r>
              <a:t>Effects are real but modest — useful for triage, not a standalone decision tool.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Limitations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Single-source observational data — associations are not causal.</a:t>
            </a:r>
          </a:p>
          <a:p>
            <a:pPr>
              <a:defRPr sz="2200"/>
            </a:pPr>
            <a:r>
              <a:t>No time-to-event information, so survival analysis is out of scope.</a:t>
            </a:r>
          </a:p>
          <a:p>
            <a:pPr>
              <a:defRPr sz="2200"/>
            </a:pPr>
            <a:r>
              <a:t>Social determinants are coarsely encoded and likely under-represented.</a:t>
            </a:r>
          </a:p>
          <a:p>
            <a:pPr>
              <a:defRPr sz="2200"/>
            </a:pPr>
            <a:r>
              <a:t>Modest model fit; predictors explain little variance individually.</a:t>
            </a:r>
          </a:p>
          <a:p>
            <a:pPr>
              <a:defRPr sz="2200"/>
            </a:pPr>
            <a:r>
              <a:t>Coursework analysis — not validated for clinical deployment.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A clean, reproducible workflow from Kaggle data to an interpretable model.</a:t>
            </a:r>
          </a:p>
          <a:p>
            <a:pPr>
              <a:defRPr sz="2200"/>
            </a:pPr>
            <a:r>
              <a:t>Methods grounded in the AAI-500 curriculum (Ch 1–7).</a:t>
            </a:r>
          </a:p>
          <a:p>
            <a:pPr>
              <a:defRPr sz="2200"/>
            </a:pPr>
            <a:r>
              <a:t>Adherence, BNP, and age are the most informative readmission factors.</a:t>
            </a:r>
          </a:p>
          <a:p>
            <a:pPr>
              <a:defRPr sz="2200"/>
            </a:pPr>
            <a:r>
              <a:t>Thank you — 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