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B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64008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3657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Predicting 30-Day Heart Failure Readmission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AAI-500 · Probability and Statistics for Artificial Intelligence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6CACE4"/>
                </a:solidFill>
              </a:rPr>
              <a:t>Professor Dallin Munger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C5A059"/>
                </a:solidFill>
              </a:rPr>
              <a:t>Group 4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</a:rPr>
              <a:t>Ian Schmitt  ·  Keana Gindlesperger  ·  Guna Pasupathy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6CACE4"/>
                </a:solidFill>
              </a:rPr>
              <a:t>UNIVERSITY OF SAN DIEGO  |  SHILEY-MARCOS SCHOOL OF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Problem &amp;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~20% of heart-failure patients are readmitted within 30 days — costly and often preventable.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Goal: identify factors associated with 30-day readmission and build a defensible risk model.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Objectives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6CACE4"/>
                </a:solidFill>
              </a:rPr>
              <a:t>–  </a:t>
            </a:r>
            <a:r>
              <a:rPr sz="1600" b="0">
                <a:solidFill>
                  <a:srgbClr val="54585A"/>
                </a:solidFill>
              </a:rPr>
              <a:t>Clean and validate the data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6CACE4"/>
                </a:solidFill>
              </a:rPr>
              <a:t>–  </a:t>
            </a:r>
            <a:r>
              <a:rPr sz="1600" b="0">
                <a:solidFill>
                  <a:srgbClr val="54585A"/>
                </a:solidFill>
              </a:rPr>
              <a:t>Explore distributions and test associations (Ch 1–5)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6CACE4"/>
                </a:solidFill>
              </a:rPr>
              <a:t>–  </a:t>
            </a:r>
            <a:r>
              <a:rPr sz="1600" b="0">
                <a:solidFill>
                  <a:srgbClr val="54585A"/>
                </a:solidFill>
              </a:rPr>
              <a:t>Fit and interpret a logistic-regression model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6CACE4"/>
                </a:solidFill>
              </a:rPr>
              <a:t>–  </a:t>
            </a:r>
            <a:r>
              <a:rPr sz="1600" b="0">
                <a:solidFill>
                  <a:srgbClr val="54585A"/>
                </a:solidFill>
              </a:rPr>
              <a:t>Translate results into recommendations and state 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Dataset</a:t>
            </a:r>
          </a:p>
        </p:txBody>
      </p:sp>
      <p:pic>
        <p:nvPicPr>
          <p:cNvPr id="6" name="Picture 5" descr="fig_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94871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37360"/>
            <a:ext cx="39319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Kaggle: Heart Failure Readmission &amp; SDOH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3,000 patients × 16 variables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Clinical: age, BMI, BNP, sodium, creatinine, BP, heart rate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Treatment: ACE inhibitor, beta blocker, diuretic, adherence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Social: income level, distance to hospital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Target: readmitted_30d (41.1% positive)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Data Quality &amp; 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~3% missing values in BMI, sodium, and creatinine.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Impossible negative creatinine values (18 rows) and a few extreme outliers.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Out-of-range readings set to NaN using clinically plausible ranges.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Modeling uses complete-case analysis (no imputation — outside course scope).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No duplicate rows; patient_id excluded as an identifier.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EDA — Distributions</a:t>
            </a:r>
          </a:p>
        </p:txBody>
      </p:sp>
      <p:pic>
        <p:nvPicPr>
          <p:cNvPr id="6" name="Picture 5" descr="fig_hist_nume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74895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37360"/>
            <a:ext cx="39319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Sodium ≈ normal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BNP right-skewed (fits a gamma)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Age roughly uniform (40–90), not normal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Verified shape rather than assuming it (Ch 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EDA — Correlations</a:t>
            </a:r>
          </a:p>
        </p:txBody>
      </p:sp>
      <p:pic>
        <p:nvPicPr>
          <p:cNvPr id="6" name="Picture 5" descr="fig_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137247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37360"/>
            <a:ext cx="39319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All pairwise |r| &lt; 0.05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Numeric predictors largely independent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No multicollinearity concerns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What Separates the Two Groups?</a:t>
            </a:r>
          </a:p>
        </p:txBody>
      </p:sp>
      <p:pic>
        <p:nvPicPr>
          <p:cNvPr id="6" name="Picture 5" descr="fig_box_by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27460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37360"/>
            <a:ext cx="39319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Lower adherence → more readmission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Higher BNP and age → more readmission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Most other features overlap heavily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Statistical Testing (Ch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Chi-square tests (categorical) and Welch's t-tests (numeric) vs. readmission.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Bonferroni correction for multiple testing (Ch 6.5).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Significant predictors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6CACE4"/>
                </a:solidFill>
              </a:rPr>
              <a:t>–  </a:t>
            </a:r>
            <a:r>
              <a:rPr sz="1600" b="0">
                <a:solidFill>
                  <a:srgbClr val="54585A"/>
                </a:solidFill>
              </a:rPr>
              <a:t>adherence_score, BNP, age, ACE inhibitor, beta blocker, distance to hospital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No association: gender, income level, BMI, heart rate, diuretic.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Confirmed by a permutation test (p ≈ 0) and high power (~1.0).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Estimation &amp; Inference (Ch 3–4)</a:t>
            </a:r>
          </a:p>
        </p:txBody>
      </p:sp>
      <p:pic>
        <p:nvPicPr>
          <p:cNvPr id="6" name="Picture 5" descr="fig_clt_bn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967257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37360"/>
            <a:ext cx="39319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CLT: sample-mean of skewed BNP is normal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SE matches σ/√n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Readmission rate 41.1%, 95% CI (39.4%, 42.9%)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Bootstrap, t-based &amp; Bayesian intervals agree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Modeling — Logistic Regression (Ch 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Logistic-regression GLM (statsmodels) — binary response, interpretable odds ratios.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Numeric predictors standardized; categoricals as indicator variables.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Complete-case analysis on the cleaned data.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Model comparison via likelihood-ratio tests, deviance, and AIC.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Tree/ensemble ML kept only as an out-of-scope appendix.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Model Results</a:t>
            </a:r>
          </a:p>
        </p:txBody>
      </p:sp>
      <p:pic>
        <p:nvPicPr>
          <p:cNvPr id="6" name="Picture 5" descr="fig_odds_rat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172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37360"/>
            <a:ext cx="39319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Protective (OR&lt;1): adherence, ACE inhibitor, beta blocker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Risk (OR&gt;1): BNP, age, distance, creatinine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LR vs null: χ²=283, p≈2e-51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Pseudo-R² ≈ 0.08 (modest)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Accuracy 0.654 vs 0.583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Key Findings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Medication adherence is the strongest signal — lower adherence, higher risk.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Elevated BNP and older age are the main clinical risk markers.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ACE inhibitors / beta blockers are associated with lower risk.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Recommendation: target adherence support and BNP monitoring for high-risk patients.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Effects are real but modest — useful for triage, not a standalone decision tool.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Single-source observational data — associations are not causal.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No time-to-event information, so survival analysis is out of scope.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Social determinants are coarsely encoded and likely under-represented.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Modest model fit; predictors explain little variance individually.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Coursework analysis — not validated for clinical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926080" cy="82296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0" y="1051560"/>
            <a:ext cx="9265615" cy="82296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185855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A clean, reproducible workflow from Kaggle data to an interpretable model.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Methods grounded in the AAI-500 curriculum (Ch 1–7).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Adherence, BNP, and age are the most informative readmission factors.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C5A059"/>
                </a:solidFill>
              </a:rPr>
              <a:t>●  </a:t>
            </a:r>
            <a:r>
              <a:rPr sz="2000" b="1">
                <a:solidFill>
                  <a:srgbClr val="003B70"/>
                </a:solidFill>
              </a:rPr>
              <a:t>Thank you — questions?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19088"/>
            <a:ext cx="11185855" cy="15240"/>
          </a:xfrm>
          <a:prstGeom prst="rect">
            <a:avLst/>
          </a:prstGeom>
          <a:solidFill>
            <a:srgbClr val="6CA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4585A"/>
                </a:solidFill>
              </a:rPr>
              <a:t>University of San Diego · Shiley-Marcos School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55664"/>
            <a:ext cx="777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003B70"/>
                </a:solidFill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